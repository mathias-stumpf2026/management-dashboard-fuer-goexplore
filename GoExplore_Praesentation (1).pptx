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6LVNYyMKhzyBNIwsxkLuVLQPW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E8DBD4-D2AD-4315-A569-538DE0A94652}">
  <a:tblStyle styleId="{CAE8DBD4-D2AD-4315-A569-538DE0A9465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GoExplore ist unser Data-Analytics-Projekt von Zubaida, Tim und mir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Aufgabe des Projekte ein Dashboard zu entwickeln das dem CEO und den Abteilungen/ </a:t>
            </a:r>
            <a:r>
              <a:rPr lang="en-US">
                <a:solidFill>
                  <a:srgbClr val="0000FF"/>
                </a:solidFill>
              </a:rPr>
              <a:t>Stakeholdern</a:t>
            </a:r>
            <a:r>
              <a:rPr lang="en-US">
                <a:solidFill>
                  <a:srgbClr val="0000FF"/>
                </a:solidFill>
              </a:rPr>
              <a:t> zum einen eine “</a:t>
            </a:r>
            <a:r>
              <a:rPr lang="en-US">
                <a:solidFill>
                  <a:srgbClr val="0000FF"/>
                </a:solidFill>
              </a:rPr>
              <a:t>Montagmorgen</a:t>
            </a:r>
            <a:r>
              <a:rPr lang="en-US">
                <a:solidFill>
                  <a:srgbClr val="0000FF"/>
                </a:solidFill>
              </a:rPr>
              <a:t>” Ansicht mit den wichtigsten Infos gibt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sowie eine Visuelle Darstellung der wichtigsten Kennzahlen und KPIs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Uns war von Anfang an bewusst das im Projekt erstmal eine grobe Grundstruktur geschaffen wird, die es in weiteren Projekten weiter auszuarbeiten gilt.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Unser erstes Ziel für dieses erste Projekt war es ein übersichtliches Dashboard zu entwickeln: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 das man nach möglichkeit Filtern kann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das die 5 </a:t>
            </a:r>
            <a:r>
              <a:rPr lang="en-US"/>
              <a:t>Sekunden</a:t>
            </a:r>
            <a:r>
              <a:rPr lang="en-US"/>
              <a:t> Regel berücksichtigt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das es in Zukunft wiederverwendbar ist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und das es eine Berechtigungsstruktur vorsieht, welche man in weiteren Schritten ausbauen kann.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unserem kurzen Pitsch möchten wir euch kurz erläutern wie wir von der Planung, über die Dokumentation bis zu möglichen Nachbearbeitungen vorgegangen sind: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Hierbei</a:t>
            </a:r>
            <a:r>
              <a:rPr lang="en-US"/>
              <a:t> gehen wir Schritt für Schritt auf die einzelnen Abschnitte und Seiten nacheinander ein von 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CEO &amp; </a:t>
            </a:r>
            <a:r>
              <a:rPr lang="en-US"/>
              <a:t>Stakeholder Fragen</a:t>
            </a:r>
            <a:r>
              <a:rPr lang="en-US"/>
              <a:t>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Erste Datenexploration, erste Projektplanung und </a:t>
            </a:r>
            <a:r>
              <a:rPr lang="en-US"/>
              <a:t>Mockup</a:t>
            </a:r>
            <a:r>
              <a:rPr lang="en-US"/>
              <a:t> entwicklung, danach haben wir mit der Umsetzung begonnen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bis hin zu den </a:t>
            </a:r>
            <a:r>
              <a:rPr lang="en-US"/>
              <a:t>einzelnen</a:t>
            </a:r>
            <a:r>
              <a:rPr lang="en-US"/>
              <a:t> </a:t>
            </a:r>
            <a:r>
              <a:rPr lang="en-US"/>
              <a:t>Dashboard Seiten also</a:t>
            </a:r>
            <a:r>
              <a:rPr lang="en-US"/>
              <a:t> von der Grundseite bis zur Administrationsseite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Am Schluss möchten wir euch dann noch einen kleine Ausblick geben wie das PRojket weiter gehen könnte und was uns aufgefallen ist.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Starten wir mit den CEO und Stakeholderfragen die wir zu beginn analysiert haben.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 haben zu Beginn ein Stakeholder-Mapping gemacht und all unsere Schritte fortlaufend  dokumentiert.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 Rolle wurden die Leitfrage ausgearbeitet, bevor wir überhaupt eine Zeile SQL geschrieben haben.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Aus jeder Leitfrage haben wir dann die Kennzahlen abgeleitet, die auf der jeweiligen Fachbereichsseite stehen sollen — das war für uns der rote Faden, der Frage zu KPI hin zu Dashboard-Seite verbindet.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Wir haben zuerst die Rohdaten der 4 CSV Dateien in google sheet zusammengeführt und im Anschluss geprüft (z.B.Bruttoumsatz, Nettoumsatz, Rabattquote) und uns die wichtigsten Ergebnisse notiert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Danach haben wir uns ein interaktives HTML- Mockup gebaut inkl. Berechtigungsstruktur für die </a:t>
            </a:r>
            <a:r>
              <a:rPr lang="en-US"/>
              <a:t>Abteilung Ebenen</a:t>
            </a:r>
            <a:r>
              <a:rPr lang="en-US"/>
              <a:t> mit Rollen und Sperr-Symbolik.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Zusätzlich haben wir eine Grundseite und einen Administrationsbereich </a:t>
            </a:r>
            <a:r>
              <a:rPr lang="en-US"/>
              <a:t>geschaffen</a:t>
            </a:r>
            <a:r>
              <a:rPr lang="en-US"/>
              <a:t>, um die Seitenstruktur und Berechtigungen schon vorab auch für weitere Projektschritte effektiv vor zu planen.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Das waren die Schritte für die wir uns bewusst entschieden haben, BEVOR wir in BigQuery/Looker gearbeitet haben.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 uns bewusst war das wir aus zeitlichen Gründen nicht alles ausarbeiten konnten, haben wir uns dazu entschieden Bilder aus der </a:t>
            </a:r>
            <a:r>
              <a:rPr lang="en-US"/>
              <a:t>Mockup</a:t>
            </a:r>
            <a:r>
              <a:rPr lang="en-US"/>
              <a:t> version 1 in </a:t>
            </a:r>
            <a:r>
              <a:rPr lang="en-US"/>
              <a:t>Studios</a:t>
            </a:r>
            <a:r>
              <a:rPr lang="en-US"/>
              <a:t> einzufügen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 weitere Meilensteine im Projekt schon vorab darzustellen.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Das haben wir so umgesetzt, damit sich für den CEO und die Stakeholder ein </a:t>
            </a:r>
            <a:r>
              <a:rPr lang="en-US"/>
              <a:t>greifbares</a:t>
            </a:r>
            <a:r>
              <a:rPr lang="en-US"/>
              <a:t> Gesamtergebnis abbilden lässt.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Die Grundseite ist bewusst neutral gehalten —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hier sieht jede:r Mitarbeitende dieselben Basisinfos, unabhängig von der Rolle.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Das war eine explizite Anforderung für diese Seite damit der User: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keine Umsatzzahlen sieht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aber das allgemeine Informationen wie die Kundenzufriedenheit, aktive Händler usw für alle sichtbar sind. Hier kann im Nachgang auch noch über weitere Infos gesprocchen werden.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von hier aus verzweigt man dann in die Fachbereiche, je nach Berechtigung des Users.</a:t>
            </a:r>
            <a:endParaRPr/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Die Finanzseite ist im ersten Meilenstein die Kernseite für den CEO. Zur Splittung der Finanzseite und der Business Operation Seite gehen wir am Schluss noch mal ein.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Auf der Finanzseite haben wir für den Gesamtumsatz die betrieblichen Finanzkennzahlen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Bruttoumsatz und Nettoumsatz</a:t>
            </a:r>
            <a:r>
              <a:rPr lang="en-US"/>
              <a:t> vor steuer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- den Gewinn (Ebit also den Rohertrag)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die Prozentuale Marge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sowie die durchschnittliche Rabattquote ermittelt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*Rohertrag/EBIT ist bewusst als vereinfachte Kennzahl gekennzeichnet, dazu gleich mehr wenn darüber sprechen was als nächstes geplant ist.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Als Charts haben wir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Ein Balkendiagramm mit Bruttoumsatz  vs Nettoumsatz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ein Liniendiagramm mit dem Nettoumsatz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sowie für die Marktexpansion eine Tabelle mit den Metriken: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Zielland vs. Benchmark Land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dem Forcast jahr um die Zielerreichung über drei Jahre abzubilden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einem Skalierungsfaktor um eine Skalierung zu berechen die das unterschiedliche Bruttoinladprodukt der beiden Länder mit einbezieht.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Ein fataler Fehler bei Expansionen wäre es, zu sagen: „Wir machen in Spanien 52 Mio. € Umsatz, also werden wir in Polen auch genau 52 Mio. € Umsatz machen.“ </a:t>
            </a:r>
            <a:endParaRPr sz="105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50"/>
              <a:buFont typeface="Roboto"/>
              <a:buChar char="-"/>
            </a:pPr>
            <a:r>
              <a:rPr lang="en-US" sz="105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Das ignoriert die wirtschaftliche Realität vor Ort (Kaufkraft, BIP pro Kopf, Löhne). </a:t>
            </a:r>
            <a:endParaRPr sz="105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50"/>
              <a:buFont typeface="Roboto"/>
              <a:buChar char="-"/>
            </a:pPr>
            <a:r>
              <a:rPr lang="en-US" sz="105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Deshalb nutzen wir das Benchmark-Modell den  Skalierungsfaktoren. </a:t>
            </a:r>
            <a:endParaRPr sz="105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50"/>
              <a:buFont typeface="Roboto"/>
              <a:buChar char="-"/>
            </a:pPr>
            <a:r>
              <a:rPr lang="en-US" sz="105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Wir haben also ein Land genommen,  in dem GoExplore bereits erfolgreich etabliert ist (Bestandsmarkt) und das eine ähnliche Struktur aufweist. </a:t>
            </a:r>
            <a:endParaRPr sz="105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50"/>
              <a:buFont typeface="Roboto"/>
              <a:buChar char="-"/>
            </a:pPr>
            <a:r>
              <a:rPr lang="en-US" sz="105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Diesen bekannten Umsatz haben wir über einen Abschlags- oder Zuschlagsfaktor (den Skalierungsfaktor) auf das neue Zielland umgerechnet, um eine realistische, datenbasierte Prognose zu erhalten</a:t>
            </a:r>
            <a:endParaRPr sz="105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Roboto"/>
              <a:buChar char="-"/>
            </a:pPr>
            <a:r>
              <a:rPr lang="en-US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damit haben wir den möglichen Marktumsatz erhalten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Roboto"/>
              <a:buChar char="-"/>
            </a:pPr>
            <a:r>
              <a:rPr lang="en-US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Als Ziel haben wir eine steigerungsrate für die 3 Jahre von 30/60 zu 100 % angesetzt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Roboto"/>
              <a:buChar char="-"/>
            </a:pPr>
            <a:r>
              <a:rPr lang="en-US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um damit eine Umsatzprognose für diese Jahre zu definieren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Roboto"/>
              <a:buChar char="-"/>
            </a:pPr>
            <a:r>
              <a:rPr lang="en-US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da aktuell noch keine Umsätze eingehen ist aktuell die Rückrechnung noch bei 0 €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Roboto"/>
              <a:buChar char="-"/>
            </a:pPr>
            <a:r>
              <a:rPr lang="en-US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die Umsatzdifferenz ist somit noch gleich dem Umsatzziel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Roboto"/>
              <a:buChar char="-"/>
            </a:pPr>
            <a:r>
              <a:rPr lang="en-US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dies gilt analog für die Umsatzdifferenz für alle 4 Länder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050"/>
              <a:buFont typeface="Roboto"/>
              <a:buChar char="-"/>
            </a:pPr>
            <a:r>
              <a:rPr lang="en-US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somit ist auch die PRozentuale Zielerreichung noch bei 0%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Formel: </a:t>
            </a:r>
            <a:endParaRPr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Ziel-Umsatz(Land, Jahr) = Netto-Umsatz Benchmarkland im Referenzjahr × (BIP pro Kopf Zielland ÷ BIP pro Kopf Benchmarkland) × Stufenfaktor (Jahr 1 = 30 %, Jahr 2 = 60 %, Jahr 3 = 100 % der Lücke zum Benchmark). Referenzjahr = 2017 (letztes vollständiges Kalenderjahr in den Daten), bewusst EIN Jahr statt Mehrjahres-Summe, da BIP pro Kopf ebenfalls eine Ein-Jahres-Momentaufnahme ist und beide Bezugsgrößen zeitlich zusammenpassen müssen.</a:t>
            </a:r>
            <a:endParaRPr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Auf dieser Seite haben wir schon mal grob </a:t>
            </a:r>
            <a:r>
              <a:rPr lang="en-US"/>
              <a:t>skizziert</a:t>
            </a:r>
            <a:r>
              <a:rPr lang="en-US"/>
              <a:t> wie eine Unterseite oder je nach geschmack eine Oberseite für ein Montag morgen aussehen könnte.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Ganz oben die Ampel mit den wichtigsten Warnhinweisen — das war uns wichtig, damit man montagmorgens nicht erst suchen muss, wo es brennt.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 die </a:t>
            </a:r>
            <a:r>
              <a:rPr lang="en-US"/>
              <a:t>Zielerreichung</a:t>
            </a:r>
            <a:r>
              <a:rPr lang="en-US"/>
              <a:t> für die Marktexpansion darzustellen haben wir uns entschieden das: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eine Gauge zu verwenden, welche </a:t>
            </a:r>
            <a:r>
              <a:rPr lang="en-US"/>
              <a:t>eigentlich</a:t>
            </a:r>
            <a:r>
              <a:rPr lang="en-US"/>
              <a:t> den geplanten Nettoumsatz und den aktuellen </a:t>
            </a:r>
            <a:r>
              <a:rPr lang="en-US"/>
              <a:t>Nettoumsatz</a:t>
            </a:r>
            <a:r>
              <a:rPr lang="en-US"/>
              <a:t> fortlaufend anzeigt. Somit die Zielerreichung.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leider war die abbildung der Dimensionen 4 Länder über drei Jahre und der abgleich Planumsatz und IST-Umsatz </a:t>
            </a:r>
            <a:r>
              <a:rPr lang="en-US"/>
              <a:t>Grafisch</a:t>
            </a:r>
            <a:r>
              <a:rPr lang="en-US"/>
              <a:t> abzubilden in dieser Zeit nicht möglich und muss nachgearbeitet </a:t>
            </a:r>
            <a:r>
              <a:rPr lang="en-US"/>
              <a:t>werden</a:t>
            </a:r>
            <a:r>
              <a:rPr lang="en-US"/>
              <a:t>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Die Tabelle beantwortet zwar teilweise die Leitfrage der Europa-Leitung., zeigt aber aktuell 0% Zielerreichung, würde sich aber aktualisieren sobald der Markteintritt erfolgt.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Das Ampelsystem müsste aber noch überarbeitet werden.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So nun erzählt euch Tim etwas über die Filter, Reiter und unsere Marketing Seite</a:t>
            </a:r>
            <a:endParaRPr/>
          </a:p>
        </p:txBody>
      </p:sp>
      <p:sp>
        <p:nvSpPr>
          <p:cNvPr id="76" name="Google Shape;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Marketing sieht hier, worüber tatsächlich verkauft wird — Web ist mit weitem Abstand der größte Kanal. Die Bestseller-Liste unten ist filterbar nach allen Dimensionen der Filterleiste, dient als Grundlage für Kampagnen-Priorisierung.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Diese Seite beantwortet die Fachgeschäft-vs-allgemein-Frage sehr konkret über die Händlertyp-Tabelle unten rechts. Die Inaktive-Händler-Liste links unten ist bewusst als Handlungsliste gedacht — nicht nur Analyse, sondern direkt actionable für den Vertrieb.</a:t>
            </a:r>
            <a:endParaRPr/>
          </a:p>
        </p:txBody>
      </p:sp>
      <p:sp>
        <p:nvSpPr>
          <p:cNvPr id="99" name="Google Shape;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Die Administration ist aktuell für das Projektteam gedacht, nicht für Endnutzer. Wichtig: die Datenqualitäts-Zahlen sind nicht versteckt, sondern bewusst transparent gemacht — inklusive der Entscheidung, warum wir Duplikate und Nullpreis-Zeilen NICHT aus den Rohdaten entfernt haben (Effekt war marginal, im Pflichtenheft dokumentiert).</a:t>
            </a:r>
            <a:endParaRPr/>
          </a:p>
        </p:txBody>
      </p:sp>
      <p:sp>
        <p:nvSpPr>
          <p:cNvPr id="111" name="Google Shape;1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Letzte Folie: transparent zeigen, was wir bewusst NICHT umgesetzt haben und warum — das ist genauso wichtig wie das, was fertig ist. Das rot markierte Mockup zeigt konkret, wie die nächste Ausbaustufe aussehen würde (Business Operations-Seite). Die offenen Punkte sind Datenlücken, keine Zeitprobleme — das sollten wir klar so kommunizieren. Am Ende Raum lassen für Fragen/Verbesserungsvorschläge aus der Feedback-Runde.</a:t>
            </a:r>
            <a:endParaRPr/>
          </a:p>
        </p:txBody>
      </p:sp>
      <p:sp>
        <p:nvSpPr>
          <p:cNvPr id="123" name="Google Shape;12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8C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FA8C9"/>
                </a:solidFill>
                <a:latin typeface="Calibri"/>
                <a:ea typeface="Calibri"/>
                <a:cs typeface="Calibri"/>
                <a:sym typeface="Calibri"/>
              </a:rPr>
              <a:t>GOEXPLORE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960120"/>
            <a:ext cx="6949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Management-Dashboard für 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ennzahlen*KPI*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Markterschließung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2514600"/>
            <a:ext cx="502920" cy="54864"/>
          </a:xfrm>
          <a:prstGeom prst="rect">
            <a:avLst/>
          </a:prstGeom>
          <a:solidFill>
            <a:srgbClr val="2E6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40080" y="2788920"/>
            <a:ext cx="66751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2E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D7E2EF"/>
                </a:solidFill>
                <a:latin typeface="Calibri"/>
                <a:ea typeface="Calibri"/>
                <a:cs typeface="Calibri"/>
                <a:sym typeface="Calibri"/>
              </a:rPr>
              <a:t>Ziel: </a:t>
            </a:r>
            <a:endParaRPr b="0" i="1" sz="1600" u="none" cap="none" strike="noStrike">
              <a:solidFill>
                <a:srgbClr val="D7E2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2E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D7E2EF"/>
                </a:solidFill>
                <a:latin typeface="Calibri"/>
                <a:ea typeface="Calibri"/>
                <a:cs typeface="Calibri"/>
                <a:sym typeface="Calibri"/>
              </a:rPr>
              <a:t>Dem CEO und den Fachbereichsleitungen ein Self-Service-Dashboard geben, das Umsatz, Gewinn und das Potenzial der vier neuen Länder auf einen Blick zeigt — ohne dass jede Entscheidung eine neue Excel-Auswertung braucht.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8C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FA8C9"/>
                </a:solidFill>
                <a:latin typeface="Calibri"/>
                <a:ea typeface="Calibri"/>
                <a:cs typeface="Calibri"/>
                <a:sym typeface="Calibri"/>
              </a:rPr>
              <a:t>Team: </a:t>
            </a:r>
            <a:r>
              <a:rPr b="0" i="0" lang="en-US" sz="1200" u="none" cap="none" strike="noStrike">
                <a:solidFill>
                  <a:srgbClr val="D7E2EF"/>
                </a:solidFill>
                <a:latin typeface="Calibri"/>
                <a:ea typeface="Calibri"/>
                <a:cs typeface="Calibri"/>
                <a:sym typeface="Calibri"/>
              </a:rPr>
              <a:t>Zubaida · Tim · Mathias   ·   WBS Data Science &amp; AI Kurs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ot_finance.png" id="22" name="Google Shape;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0" y="822960"/>
            <a:ext cx="3840480" cy="29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7818120" y="822960"/>
            <a:ext cx="3840480" cy="2916300"/>
          </a:xfrm>
          <a:prstGeom prst="rect">
            <a:avLst/>
          </a:prstGeom>
          <a:noFill/>
          <a:ln cap="flat" cmpd="sng" w="19050">
            <a:solidFill>
              <a:srgbClr val="2747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818120" y="381241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8C9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FA8C9"/>
                </a:solidFill>
                <a:latin typeface="Calibri"/>
                <a:ea typeface="Calibri"/>
                <a:cs typeface="Calibri"/>
                <a:sym typeface="Calibri"/>
              </a:rPr>
              <a:t>Live-Dashboard: Finance / CEO (Looker Studio)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E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E9E"/>
                </a:solidFill>
                <a:latin typeface="Calibri"/>
                <a:ea typeface="Calibri"/>
                <a:cs typeface="Calibri"/>
                <a:sym typeface="Calibri"/>
              </a:rPr>
              <a:t>ANFORDERUNGSANALYSE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02920" y="5029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Stakeholder-Fragen und daraus abgeleitete Kennzahlen &amp; KPI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2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4" name="Google Shape;34;p2"/>
          <p:cNvGraphicFramePr/>
          <p:nvPr/>
        </p:nvGraphicFramePr>
        <p:xfrm>
          <a:off x="50292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{CAE8DBD4-D2AD-4315-A569-538DE0A94652}</a:tableStyleId>
              </a:tblPr>
              <a:tblGrid>
                <a:gridCol w="1920250"/>
                <a:gridCol w="4937750"/>
                <a:gridCol w="42976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Stakeholder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Kernfrage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Kennzahlen (KPI)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</a:tr>
              <a:tr h="105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CEO / CFO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Wie entwickeln sich Umsatz, Gewinn und Marge — und wo drohen Verluste?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Netto-/Bruttoumsatz, Rohertrag, Gewinnmarge, Rabatt-Quote, Aufschlagsfaktor, Umsatzeffizienz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Leitung Europa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Wie viel Umsatzpotenzial haben Polen, Norwegen, Tschechien und Portugal — und erreichen sie ihr Ziel?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Benchmark-Umsatz × BIP-Skalierung, 3-Jahres-Ziel (30/60/100%), Ist-vs-Soll-Zielerreichung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Retailer Connections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Fachgeschäfte vs. allgemeine Geschäfte — wer ist wertvoller, wer braucht Aufmerksamkeit?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Ø Warenkorbwert je Typ, Rabatt-Quote je Typ, Top-5-Händler, inaktive Händler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Welche Bestellmethoden und Produktlinien performen am besten?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Umsatz nach Bestellmethode, Umsatz nach Produktlinie, Bestseller-Produkte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E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E9E"/>
                </a:solidFill>
                <a:latin typeface="Calibri"/>
                <a:ea typeface="Calibri"/>
                <a:cs typeface="Calibri"/>
                <a:sym typeface="Calibri"/>
              </a:rPr>
              <a:t>KONZEPT VOR DER UMSETZUNG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02920" y="5029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Erst Datenexploration, dann Mockup, dann Umsetzung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3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3"/>
          <p:cNvSpPr/>
          <p:nvPr/>
        </p:nvSpPr>
        <p:spPr>
          <a:xfrm>
            <a:off x="502920" y="1371600"/>
            <a:ext cx="47548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Bevor wir eine einzige BigQuery-View gebaut haben, haben wir die Rohdaten (4 CSV-Tabellen, 149.257 Zeilen) exploriert, </a:t>
            </a:r>
            <a:r>
              <a:rPr lang="en-US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mit </a:t>
            </a:r>
            <a:r>
              <a:rPr b="0" i="0" lang="en-US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Formeln </a:t>
            </a:r>
            <a:r>
              <a:rPr lang="en-US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be</a:t>
            </a:r>
            <a:r>
              <a:rPr b="0" i="0" lang="en-US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rechnet und ein interaktives HTML-Mockup gebaut — inkl. Berechtigungsstruktur (Rollen, Sperr-Symbolik) und Abteilungsebenen. So war klar, welche Kennzahl auf welche Seite gehört, bevor die Umsetzung begann.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02920" y="3794760"/>
            <a:ext cx="47548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Datenexploration: Formeln (Umsatz, Rabatt, Marge) manuell gegen die Original-CSV verifiziert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2332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Konzept-Mockup: klickbarer Prototyp mit Rollen-Umschalter (CEO/CFO, Marketing, Retailer, Mitarbeitende)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2332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Berechtigungsmodell: 🔓 offen / 🔒 gesperrt je Fachbereich, sichtbar direkt im Mockup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2332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Ergebnis: Umsetzung in Looker Studio folgte 1:1 der im Mockup festgelegten Seitenstruktur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ckup_finance_crop.png" id="46" name="Google Shape;4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2120" y="1371600"/>
            <a:ext cx="6126480" cy="4376057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"/>
          <p:cNvSpPr/>
          <p:nvPr/>
        </p:nvSpPr>
        <p:spPr>
          <a:xfrm>
            <a:off x="5532120" y="1371600"/>
            <a:ext cx="6126480" cy="4376057"/>
          </a:xfrm>
          <a:prstGeom prst="rect">
            <a:avLst/>
          </a:prstGeom>
          <a:noFill/>
          <a:ln cap="flat" cmpd="sng" w="1587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5532120" y="5820809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Konzept-Mockup — Finance/CEO-Seite (vor der Umsetzung)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E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E9E"/>
                </a:solidFill>
                <a:latin typeface="Calibri"/>
                <a:ea typeface="Calibri"/>
                <a:cs typeface="Calibri"/>
                <a:sym typeface="Calibri"/>
              </a:rPr>
              <a:t>SEITE 1 VON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02920" y="5029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Grundseite — Einstieg für alle Mitarbeitenden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4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shot_grundseite.png" id="58" name="Google Shape;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440" y="1594248"/>
            <a:ext cx="6126480" cy="462962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/>
          <p:nvPr/>
        </p:nvSpPr>
        <p:spPr>
          <a:xfrm>
            <a:off x="5806440" y="1594248"/>
            <a:ext cx="6126480" cy="4629623"/>
          </a:xfrm>
          <a:prstGeom prst="rect">
            <a:avLst/>
          </a:prstGeom>
          <a:noFill/>
          <a:ln cap="flat" cmpd="sng" w="1587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502920" y="1508760"/>
            <a:ext cx="50292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Für alle zugänglich, unabhängig von Rolle — bewusst OHNE Umsatz-/Gewinnbezug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5-Sekunden-Regel: Bestellvolumen-Trend, aktive Länder, Kernfragen je Fachbereich auf einen Blick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Kacheln zu den 4 Fachbereichsseiten zeigen 🔒/🔓 je nach Rolle — Einstiegspunkt in die Navigation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E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E9E"/>
                </a:solidFill>
                <a:latin typeface="Calibri"/>
                <a:ea typeface="Calibri"/>
                <a:cs typeface="Calibri"/>
                <a:sym typeface="Calibri"/>
              </a:rPr>
              <a:t>SEITE 2 VON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02920" y="5029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Finance / CEO — Umsatz, Gewinn, Rabatt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5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shot_finance.png" id="70" name="Google Shape;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440" y="1582963"/>
            <a:ext cx="6126480" cy="465219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5806440" y="1582963"/>
            <a:ext cx="6126480" cy="4652193"/>
          </a:xfrm>
          <a:prstGeom prst="rect">
            <a:avLst/>
          </a:prstGeom>
          <a:noFill/>
          <a:ln cap="flat" cmpd="sng" w="1587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02920" y="1508760"/>
            <a:ext cx="50292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Sichtbar für CEO, CFO und Finance — Kern-KPIs: Bruttoumsatz, Nettoumsatz, Rohertrag (EBIT vereinfacht), Marge %, Rabatt-Quote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Automatische Ampel „Wichtigste Hinweise (Montagmorgen)“ — negative Kennzahlen werden automatisch markiert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Zeitreihen- und Land×Händlertyp-Analyse für Rabatt, Marktanteil und Detail-Drilldown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E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E9E"/>
                </a:solidFill>
                <a:latin typeface="Calibri"/>
                <a:ea typeface="Calibri"/>
                <a:cs typeface="Calibri"/>
                <a:sym typeface="Calibri"/>
              </a:rPr>
              <a:t>SEITE 2B VON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02920" y="5029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Finance / CEO — Markterschließung neue Länder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6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6"/>
          <p:cNvSpPr/>
          <p:nvPr/>
        </p:nvSpPr>
        <p:spPr>
          <a:xfrm>
            <a:off x="502920" y="1508760"/>
            <a:ext cx="50292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3-Jahres-Zielumsatz für Polen, Norwegen, Tschechien, Portugal — je 1 Benchmarkland (BIP-Skalierung)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Gestaffeltes Ziel: Jahr 1 = 30 %, Jahr 2 = 60 %, Jahr 3 = 100 % der Lücke zum Benchmark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Ist-Umsatz und Zielerreichung % je Land bereits vorbereitet — aktuell 0 %, da der Markteintritt noch nicht erfolgt ist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2988" y="2200813"/>
            <a:ext cx="5762625" cy="4314825"/>
          </a:xfrm>
          <a:prstGeom prst="rect">
            <a:avLst/>
          </a:prstGeom>
          <a:noFill/>
          <a:ln cap="flat" cmpd="sng" w="1587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E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E9E"/>
                </a:solidFill>
                <a:latin typeface="Calibri"/>
                <a:ea typeface="Calibri"/>
                <a:cs typeface="Calibri"/>
                <a:sym typeface="Calibri"/>
              </a:rPr>
              <a:t>SEITE 3 VON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502920" y="5029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Marketing — Bestellmethode &amp; Produktlinie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7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shot_marketing.png" id="93" name="Google Shape;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440" y="1504312"/>
            <a:ext cx="6126480" cy="480949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/>
          <p:nvPr/>
        </p:nvSpPr>
        <p:spPr>
          <a:xfrm>
            <a:off x="5806440" y="1504312"/>
            <a:ext cx="6126480" cy="4809495"/>
          </a:xfrm>
          <a:prstGeom prst="rect">
            <a:avLst/>
          </a:prstGeom>
          <a:noFill/>
          <a:ln cap="flat" cmpd="sng" w="1587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502920" y="1508760"/>
            <a:ext cx="50292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Sichtbar für Marketing — Umsatz nach Bestellmethode (Web dominiert mit 83,2 %) und nach Produktlinie im Zeitverlauf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Bestseller-Produkte als Ranking-Liste (Top 144 Produkte, gefiltert nach Land/Zeitraum)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Beantwortet: welche Kanäle und Produktlinien sollten priorisiert beworben werden?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E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E9E"/>
                </a:solidFill>
                <a:latin typeface="Calibri"/>
                <a:ea typeface="Calibri"/>
                <a:cs typeface="Calibri"/>
                <a:sym typeface="Calibri"/>
              </a:rPr>
              <a:t>SEITE 4 VON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502920" y="5029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Retailer Connections — Fachgeschäfte vs. allgemein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8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shot_retailer.png" id="105" name="Google Shape;1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440" y="1578692"/>
            <a:ext cx="6126480" cy="466073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8"/>
          <p:cNvSpPr/>
          <p:nvPr/>
        </p:nvSpPr>
        <p:spPr>
          <a:xfrm>
            <a:off x="5806440" y="1578692"/>
            <a:ext cx="6126480" cy="4660736"/>
          </a:xfrm>
          <a:prstGeom prst="rect">
            <a:avLst/>
          </a:prstGeom>
          <a:noFill/>
          <a:ln cap="flat" cmpd="sng" w="1587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502920" y="1508760"/>
            <a:ext cx="50292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Sichtbar für Retailer Connections — Rabatt-Quote, Ø Warenkorbwert, Top-5-Händler, Umsatz nach Land (Karte)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Umsatz nach Händlertyp inkl. Rabatt-Quote und Warenkorbwert je Typ — zeigt, wer wertvoll ist und wer Aufmerksamkeit braucht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Inaktive-Händler-Liste (273 von insgesamt) als direkte Handlungsliste für den Vertrieb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E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E9E"/>
                </a:solidFill>
                <a:latin typeface="Calibri"/>
                <a:ea typeface="Calibri"/>
                <a:cs typeface="Calibri"/>
                <a:sym typeface="Calibri"/>
              </a:rPr>
              <a:t>SEITE 5 VON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502920" y="5029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Administration — Datenqualität &amp; Berechtigungen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9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shot_admin.png" id="117" name="Google Shape;1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440" y="1873698"/>
            <a:ext cx="6126480" cy="4070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9"/>
          <p:cNvSpPr/>
          <p:nvPr/>
        </p:nvSpPr>
        <p:spPr>
          <a:xfrm>
            <a:off x="5806440" y="1873698"/>
            <a:ext cx="6126480" cy="4070724"/>
          </a:xfrm>
          <a:prstGeom prst="rect">
            <a:avLst/>
          </a:prstGeom>
          <a:noFill/>
          <a:ln cap="flat" cmpd="sng" w="1587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502920" y="1508760"/>
            <a:ext cx="502920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Sichtbar für das Projektteam — Datenimport-Status, Aktualisierungsintervall, Audit-Log, Datenqualitäts-Monitor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Rechtematrix: welche Rolle sieht welchen Fachbereich (Grundseite/Finance/Marketing/Retailer/Admin)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Datenqualitäts-Karte zeigt die geprüften und bewusst nicht bereinigten Auffälligkeiten (802 Duplikate, 524 Nullpreis-Zeilen)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E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6E9E"/>
                </a:solidFill>
                <a:latin typeface="Calibri"/>
                <a:ea typeface="Calibri"/>
                <a:cs typeface="Calibri"/>
                <a:sym typeface="Calibri"/>
              </a:rPr>
              <a:t>AUSBLICK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502920" y="5029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Was als Nächstes geplant ist — und was noch offen bleibt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0"/>
          <p:cNvCxnSpPr/>
          <p:nvPr/>
        </p:nvCxnSpPr>
        <p:spPr>
          <a:xfrm>
            <a:off x="502920" y="117043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mockup_v2_annotiert.png"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1417320"/>
            <a:ext cx="5760720" cy="478962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/>
          <p:cNvSpPr/>
          <p:nvPr/>
        </p:nvSpPr>
        <p:spPr>
          <a:xfrm>
            <a:off x="5943600" y="1417320"/>
            <a:ext cx="5760720" cy="4789627"/>
          </a:xfrm>
          <a:prstGeom prst="rect">
            <a:avLst/>
          </a:prstGeom>
          <a:noFill/>
          <a:ln cap="flat" cmpd="sng" w="1587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"/>
          <p:cNvSpPr/>
          <p:nvPr/>
        </p:nvSpPr>
        <p:spPr>
          <a:xfrm>
            <a:off x="5943600" y="6280099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Mockup V2 — rot markiert: neue "Business Operations"-Seite (geplant, noch nicht umgesetzt)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502920" y="13716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Nächster Ausbauschritt (nach Projektabschluss)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502920" y="1737360"/>
            <a:ext cx="5029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Eigene Seite „Business Operations“: Rohertrag/EBIT, Gewinnmarge, Aufschlagsfaktor, Umsatzeffizienz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Ggf. weitere Abteilungsseiten (z. B. Vertrieb) mit eigener Unterseiten-Logik (Kurzüberblick + Detail-Drilldown)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502920" y="30632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Offene Punkte / bewusst nicht umgesetzt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502920" y="338328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Keine Personal-/Headcount-Daten → „Umsatz pro Mitarbeiter“ nicht berechenbar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Keine echte GuV möglich: Personal-, Miet-, Marketing-, Zinskosten fehlen — Rohertrag = EBIT nur unter „keine Kredite“-Annahme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Kundenzufriedenheit/NPS: keine Datenquelle vorhanden (CRM-Anbindung offen)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Rollenbasierte Freigabe in Looker Studio noch nicht produktiv umgesetzt (nur konzeptionell im Mockup)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502920" y="53492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E9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6E9E"/>
                </a:solidFill>
                <a:latin typeface="Calibri"/>
                <a:ea typeface="Calibri"/>
                <a:cs typeface="Calibri"/>
                <a:sym typeface="Calibri"/>
              </a:rPr>
              <a:t>Mögliche Änderungswünsche / Rückfragen an den Kurs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502920" y="566928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API-/ERP-Anbindung für automatischen Datenimport statt manuellem CSV-Upload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Anbindung an ein Kundenzufriedenheitsprogramm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2026-08-21T05:53:50Z</dcterms:created>
  <dc:creator>PptxGenJS</dc:creator>
</cp:coreProperties>
</file>